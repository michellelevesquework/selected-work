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Sofia Sans Semi Condensed Black"/>
      <p:bold r:id="rId9"/>
      <p:boldItalic r:id="rId10"/>
    </p:embeddedFont>
    <p:embeddedFont>
      <p:font typeface="Sofia Sans Semi Condense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fiaSansSemiCondensed-regular.fntdata"/><Relationship Id="rId10" Type="http://schemas.openxmlformats.org/officeDocument/2006/relationships/font" Target="fonts/SofiaSansSemiCondensedBlack-boldItalic.fntdata"/><Relationship Id="rId13" Type="http://schemas.openxmlformats.org/officeDocument/2006/relationships/font" Target="fonts/SofiaSansSemiCondensed-italic.fntdata"/><Relationship Id="rId12" Type="http://schemas.openxmlformats.org/officeDocument/2006/relationships/font" Target="fonts/SofiaSansSemiCondense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SofiaSansSemiCondensedBlack-bold.fntdata"/><Relationship Id="rId14" Type="http://schemas.openxmlformats.org/officeDocument/2006/relationships/font" Target="fonts/SofiaSansSemi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urtive-production-d9e.notion.site/Talent-Development-2402257078668027b89cdc1c1d6f9c42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28144806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28144806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 want to highlight how choosing the right learning modality — the what of learning — can make or break impact.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modality we choose isn’t random — it’s determined after a needs assessment, once we understand the real learning goal and the context learners are operating in.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While L&amp;D will ultimately provide a recommendation on the best-fit modality, it’s helpful to see why that choice matters. It’s not always about building a full eLearning course or hosting a live session — sometimes the most effective solution is much simpler.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 fact, the most impactful learning experience might be a quick job aid, a short communication, or a one-minute walkthrough that helps someone perform better in the moment they need it.  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Or sometimes the right solution isn’t learning at all.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Different Needs, Different Methods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Not all learning needs are equal.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Knowledge</a:t>
            </a:r>
            <a:r>
              <a:rPr lang="en">
                <a:solidFill>
                  <a:schemeClr val="dk1"/>
                </a:solidFill>
              </a:rPr>
              <a:t> needs are best met through </a:t>
            </a:r>
            <a:r>
              <a:rPr i="1" lang="en">
                <a:solidFill>
                  <a:schemeClr val="dk1"/>
                </a:solidFill>
              </a:rPr>
              <a:t>self-paced or digital learning</a:t>
            </a:r>
            <a:r>
              <a:rPr lang="en">
                <a:solidFill>
                  <a:schemeClr val="dk1"/>
                </a:solidFill>
              </a:rPr>
              <a:t> (e.g., eLearning, microlearning). But sometimes, the solution isn’t formal learning at all — strong knowledge management or clear communication can be just as effective depending on what the goal is. 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If the goal is for your learner to </a:t>
            </a:r>
            <a:r>
              <a:rPr b="1" lang="en">
                <a:solidFill>
                  <a:schemeClr val="dk1"/>
                </a:solidFill>
              </a:rPr>
              <a:t>KNOW</a:t>
            </a:r>
            <a:r>
              <a:rPr lang="en">
                <a:solidFill>
                  <a:schemeClr val="dk1"/>
                </a:solidFill>
              </a:rPr>
              <a:t> a thing, we should be asking: “have we told them?”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Skill building</a:t>
            </a:r>
            <a:r>
              <a:rPr lang="en">
                <a:solidFill>
                  <a:schemeClr val="dk1"/>
                </a:solidFill>
              </a:rPr>
              <a:t> thrives in </a:t>
            </a:r>
            <a:r>
              <a:rPr i="1" lang="en">
                <a:solidFill>
                  <a:schemeClr val="dk1"/>
                </a:solidFill>
              </a:rPr>
              <a:t>practice and feedback environments</a:t>
            </a:r>
            <a:r>
              <a:rPr lang="en">
                <a:solidFill>
                  <a:schemeClr val="dk1"/>
                </a:solidFill>
              </a:rPr>
              <a:t> like workshops, coaching, or simulations.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Behavioral or mindset shifts</a:t>
            </a:r>
            <a:r>
              <a:rPr lang="en">
                <a:solidFill>
                  <a:schemeClr val="dk1"/>
                </a:solidFill>
              </a:rPr>
              <a:t> require </a:t>
            </a:r>
            <a:r>
              <a:rPr i="1" lang="en">
                <a:solidFill>
                  <a:schemeClr val="dk1"/>
                </a:solidFill>
              </a:rPr>
              <a:t>social and experiential</a:t>
            </a:r>
            <a:r>
              <a:rPr lang="en">
                <a:solidFill>
                  <a:schemeClr val="dk1"/>
                </a:solidFill>
              </a:rPr>
              <a:t> learning—things like peer discussions, role-play, or mentorship.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key is matching the </a:t>
            </a:r>
            <a:r>
              <a:rPr b="1" lang="en">
                <a:solidFill>
                  <a:schemeClr val="dk1"/>
                </a:solidFill>
              </a:rPr>
              <a:t>learning need</a:t>
            </a:r>
            <a:r>
              <a:rPr lang="en">
                <a:solidFill>
                  <a:schemeClr val="dk1"/>
                </a:solidFill>
              </a:rPr>
              <a:t> with the </a:t>
            </a:r>
            <a:r>
              <a:rPr b="1" lang="en">
                <a:solidFill>
                  <a:schemeClr val="dk1"/>
                </a:solidFill>
              </a:rPr>
              <a:t>right experience</a:t>
            </a:r>
            <a:r>
              <a:rPr lang="en">
                <a:solidFill>
                  <a:schemeClr val="dk1"/>
                </a:solidFill>
              </a:rPr>
              <a:t> rather than defaulting to a single format.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81448063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28144806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most effective programs blend modalities: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Tell → Show → Try → Reflect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For example: an eLearning module introduces a skill, a live session practices it, and follow-ups reinforce it through peer feedback or manager coaching.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approach ensures both </a:t>
            </a:r>
            <a:r>
              <a:rPr b="1" lang="en">
                <a:solidFill>
                  <a:schemeClr val="dk1"/>
                </a:solidFill>
              </a:rPr>
              <a:t>understanding and application</a:t>
            </a:r>
            <a:r>
              <a:rPr lang="en">
                <a:solidFill>
                  <a:schemeClr val="dk1"/>
                </a:solidFill>
              </a:rPr>
              <a:t>, bridging the gap between “I know” and “I can do.”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When we map modalities to needs, we get:</a:t>
            </a: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Efficiency</a:t>
            </a:r>
            <a:r>
              <a:rPr lang="en">
                <a:solidFill>
                  <a:schemeClr val="dk1"/>
                </a:solidFill>
              </a:rPr>
              <a:t> — content delivered in the most scalable, accessible way.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Engagement</a:t>
            </a:r>
            <a:r>
              <a:rPr lang="en">
                <a:solidFill>
                  <a:schemeClr val="dk1"/>
                </a:solidFill>
              </a:rPr>
              <a:t> — learners stay active and connected.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Sustainability</a:t>
            </a:r>
            <a:r>
              <a:rPr lang="en">
                <a:solidFill>
                  <a:schemeClr val="dk1"/>
                </a:solidFill>
              </a:rPr>
              <a:t> — behaviors stick because learning becomes part of how people work, not just a one-time event.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Impactful learning isn’t about more content — it’s about </a:t>
            </a:r>
            <a:r>
              <a:rPr b="1" lang="en">
                <a:solidFill>
                  <a:schemeClr val="dk1"/>
                </a:solidFill>
              </a:rPr>
              <a:t>designing smarter experiences</a:t>
            </a:r>
            <a:r>
              <a:rPr lang="en">
                <a:solidFill>
                  <a:schemeClr val="dk1"/>
                </a:solidFill>
              </a:rPr>
              <a:t> that meet people where they are and guide them where they need to go.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28144806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28144806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purpose of “Learning Needs &amp; Modalities”</a:t>
            </a:r>
            <a:r>
              <a:rPr lang="en">
                <a:solidFill>
                  <a:schemeClr val="dk1"/>
                </a:solidFill>
              </a:rPr>
              <a:t> is to illustrate how different learning goals require different delivery methods — and that selecting the right </a:t>
            </a:r>
            <a:r>
              <a:rPr b="1" lang="en">
                <a:solidFill>
                  <a:schemeClr val="dk1"/>
                </a:solidFill>
              </a:rPr>
              <a:t>modality</a:t>
            </a:r>
            <a:r>
              <a:rPr lang="en">
                <a:solidFill>
                  <a:schemeClr val="dk1"/>
                </a:solidFill>
              </a:rPr>
              <a:t> (e.g., eLearning, workshop, coaching, or communication) determines learning impact and retention.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L&amp;D team partners with you and SMEs</a:t>
            </a:r>
            <a:r>
              <a:rPr lang="en">
                <a:solidFill>
                  <a:schemeClr val="dk1"/>
                </a:solidFill>
              </a:rPr>
              <a:t> to </a:t>
            </a:r>
            <a:r>
              <a:rPr b="1" lang="en">
                <a:solidFill>
                  <a:schemeClr val="dk1"/>
                </a:solidFill>
              </a:rPr>
              <a:t>assess needs and recommend the best modality path forward</a:t>
            </a:r>
            <a:r>
              <a:rPr lang="en">
                <a:solidFill>
                  <a:schemeClr val="dk1"/>
                </a:solidFill>
              </a:rPr>
              <a:t>, ensuring every learning experience is purposeful, scalable, and designed for measurable impact.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can find this guide on our </a:t>
            </a:r>
            <a:r>
              <a:rPr b="1" lang="en" u="sng">
                <a:solidFill>
                  <a:schemeClr val="hlink"/>
                </a:solidFill>
                <a:hlinkClick r:id="rId2"/>
              </a:rPr>
              <a:t>Talent Development Notion Page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for a closer look. 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https://furtive-production-d9e.notion.site/Talent-Development-2402257078668027b89cdc1c1d6f9c42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800" y="4863450"/>
            <a:ext cx="9144000" cy="280200"/>
          </a:xfrm>
          <a:prstGeom prst="rect">
            <a:avLst/>
          </a:prstGeom>
          <a:solidFill>
            <a:srgbClr val="BC5F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8900" y="4967975"/>
            <a:ext cx="326199" cy="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896100" y="137775"/>
            <a:ext cx="735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BC5F43"/>
                </a:solidFill>
                <a:latin typeface="Sofia Sans Semi Condensed Black"/>
                <a:ea typeface="Sofia Sans Semi Condensed Black"/>
                <a:cs typeface="Sofia Sans Semi Condensed Black"/>
                <a:sym typeface="Sofia Sans Semi Condensed Black"/>
              </a:rPr>
              <a:t>Choosing the Right Modality for Impactful Learning </a:t>
            </a:r>
            <a:endParaRPr sz="3500">
              <a:solidFill>
                <a:srgbClr val="FFFFF3"/>
              </a:solidFill>
              <a:latin typeface="Sofia Sans Semi Condensed Black"/>
              <a:ea typeface="Sofia Sans Semi Condensed Black"/>
              <a:cs typeface="Sofia Sans Semi Condensed Black"/>
              <a:sym typeface="Sofia Sans Semi Condensed Black"/>
            </a:endParaRP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48350" y="1204997"/>
            <a:ext cx="84810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1600">
              <a:solidFill>
                <a:srgbClr val="BC5F43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BC5F43"/>
              </a:buClr>
              <a:buSzPts val="1600"/>
              <a:buFont typeface="Sofia Sans Semi Condensed"/>
              <a:buChar char="➔"/>
            </a:pPr>
            <a:r>
              <a:rPr b="1" lang="en" sz="1600">
                <a:solidFill>
                  <a:srgbClr val="BC5F43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Needs = Modality</a:t>
            </a:r>
            <a:endParaRPr b="1" sz="1600">
              <a:solidFill>
                <a:srgbClr val="BC5F43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175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C5F43"/>
              </a:buClr>
              <a:buSzPts val="1400"/>
              <a:buFont typeface="Sofia Sans Semi Condensed"/>
              <a:buChar char="➔"/>
            </a:pPr>
            <a:r>
              <a:rPr b="1" lang="en" sz="1600">
                <a:solidFill>
                  <a:srgbClr val="BC5F43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Different Needs call for Different Modalities</a:t>
            </a:r>
            <a:b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</a:br>
            <a:endParaRPr sz="14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b="1"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Knowledge</a:t>
            </a:r>
            <a: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needs </a:t>
            </a:r>
            <a:endParaRPr sz="14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i="1"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self-paced or digital learning</a:t>
            </a:r>
            <a:r>
              <a:rPr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(e.g., eLearning, microlearning)</a:t>
            </a:r>
            <a:endParaRPr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Sometimes, the solution isn’t formal learning at all </a:t>
            </a:r>
            <a:br>
              <a:rPr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</a:br>
            <a:endParaRPr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b="1"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Skill building</a:t>
            </a:r>
            <a: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</a:t>
            </a:r>
            <a:endParaRPr sz="14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i="1"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P</a:t>
            </a:r>
            <a:r>
              <a:rPr i="1"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ractice and feedback environments</a:t>
            </a:r>
            <a:r>
              <a:rPr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(</a:t>
            </a:r>
            <a: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workshops, coaching, or simulations</a:t>
            </a:r>
            <a:r>
              <a:rPr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)</a:t>
            </a:r>
            <a:b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</a:br>
            <a:endParaRPr sz="14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b="1"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Behavioral or mindset shifts</a:t>
            </a:r>
            <a: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</a:t>
            </a:r>
            <a:endParaRPr sz="14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◆"/>
            </a:pPr>
            <a: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S</a:t>
            </a:r>
            <a:r>
              <a:rPr i="1"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ocial and experiential</a:t>
            </a:r>
            <a: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learning</a:t>
            </a:r>
            <a:r>
              <a:rPr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(</a:t>
            </a:r>
            <a:r>
              <a:rPr lang="en" sz="14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peer discussions, role-play, mentorship</a:t>
            </a:r>
            <a:r>
              <a:rPr lang="en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)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1274">
              <a:solidFill>
                <a:srgbClr val="B45F06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3169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2662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3008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955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813">
                <a:solidFill>
                  <a:schemeClr val="accent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</a:t>
            </a:r>
            <a:endParaRPr sz="765"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955"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13716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955"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955"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1800" y="4863450"/>
            <a:ext cx="9144000" cy="280200"/>
          </a:xfrm>
          <a:prstGeom prst="rect">
            <a:avLst/>
          </a:prstGeom>
          <a:solidFill>
            <a:srgbClr val="BC5F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8900" y="4967975"/>
            <a:ext cx="326199" cy="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896100" y="137775"/>
            <a:ext cx="7351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BC5F43"/>
                </a:solidFill>
                <a:latin typeface="Sofia Sans Semi Condensed Black"/>
                <a:ea typeface="Sofia Sans Semi Condensed Black"/>
                <a:cs typeface="Sofia Sans Semi Condensed Black"/>
                <a:sym typeface="Sofia Sans Semi Condensed Black"/>
              </a:rPr>
              <a:t>Designing for Impact</a:t>
            </a:r>
            <a:endParaRPr sz="3500">
              <a:solidFill>
                <a:srgbClr val="BC5F43"/>
              </a:solidFill>
              <a:latin typeface="Sofia Sans Semi Condensed Black"/>
              <a:ea typeface="Sofia Sans Semi Condensed Black"/>
              <a:cs typeface="Sofia Sans Semi Condensed Black"/>
              <a:sym typeface="Sofia Sans Semi Condensed Black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48350" y="1035788"/>
            <a:ext cx="8481000" cy="3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C5F43"/>
              </a:buClr>
              <a:buSzPts val="1600"/>
              <a:buFont typeface="Sofia Sans Semi Condensed"/>
              <a:buChar char="➔"/>
            </a:pPr>
            <a:r>
              <a:rPr b="1" lang="en">
                <a:solidFill>
                  <a:srgbClr val="BC5F43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Tell → Show → Try → Reflect</a:t>
            </a:r>
            <a:br>
              <a:rPr b="1" lang="en" sz="1600">
                <a:solidFill>
                  <a:srgbClr val="BC5F43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</a:br>
            <a:br>
              <a:rPr b="1" lang="en" sz="1600">
                <a:solidFill>
                  <a:srgbClr val="BC5F43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</a:br>
            <a:endParaRPr b="1" sz="1600">
              <a:solidFill>
                <a:srgbClr val="BC5F43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When we map modalities to needs, we get:</a:t>
            </a:r>
            <a:endParaRPr sz="16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302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Efficiency</a:t>
            </a:r>
            <a:r>
              <a:rPr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:  content delivered in the most scalable, accessible way.</a:t>
            </a:r>
            <a:br>
              <a:rPr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</a:br>
            <a:endParaRPr sz="16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Engagement:</a:t>
            </a:r>
            <a:r>
              <a:rPr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learners stay active and connected.</a:t>
            </a:r>
            <a:br>
              <a:rPr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</a:br>
            <a:endParaRPr sz="16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Sustainability:</a:t>
            </a:r>
            <a:r>
              <a:rPr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behaviors stick because learning becomes part of how people work, not just a one-time event.</a:t>
            </a:r>
            <a:br>
              <a:rPr lang="en" sz="1600">
                <a:solidFill>
                  <a:schemeClr val="dk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</a:br>
            <a:endParaRPr b="1" sz="1600">
              <a:solidFill>
                <a:srgbClr val="BC5F43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1600">
              <a:solidFill>
                <a:srgbClr val="B45F06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6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6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600">
                <a:solidFill>
                  <a:schemeClr val="accent1"/>
                </a:solidFill>
                <a:latin typeface="Sofia Sans Semi Condensed"/>
                <a:ea typeface="Sofia Sans Semi Condensed"/>
                <a:cs typeface="Sofia Sans Semi Condensed"/>
                <a:sym typeface="Sofia Sans Semi Condensed"/>
              </a:rPr>
              <a:t> </a:t>
            </a:r>
            <a:endParaRPr sz="1600"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600"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13716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600"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600">
              <a:latin typeface="Sofia Sans Semi Condensed"/>
              <a:ea typeface="Sofia Sans Semi Condensed"/>
              <a:cs typeface="Sofia Sans Semi Condensed"/>
              <a:sym typeface="Sofia Sans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1800" y="4863450"/>
            <a:ext cx="9144000" cy="280200"/>
          </a:xfrm>
          <a:prstGeom prst="rect">
            <a:avLst/>
          </a:prstGeom>
          <a:solidFill>
            <a:srgbClr val="BC5F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8900" y="4967975"/>
            <a:ext cx="326199" cy="7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427" y="0"/>
            <a:ext cx="8212651" cy="4880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